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743200"/>
            <a:ext cx="8229600" cy="8229600"/>
          </a:xfrm>
          <a:prstGeom prst="ellipse">
            <a:avLst/>
          </a:prstGeom>
          <a:solidFill>
            <a:srgbClr val="E6B450">
              <a:alpha val="12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0" y="3657600"/>
            <a:ext cx="8229600" cy="8229600"/>
          </a:xfrm>
          <a:prstGeom prst="ellipse">
            <a:avLst/>
          </a:prstGeom>
          <a:solidFill>
            <a:srgbClr val="6FBFB1">
              <a:alpha val="8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5780" y="480060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4085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2391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10696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39002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67307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95613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3918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2224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80529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8835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7140" y="480060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5446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3751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2057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0362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78668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6973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35279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63584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91890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20195" y="48006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4085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2391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10696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39002" y="864108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67307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95613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23918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2224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80529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08835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7140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65446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93751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22057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0362" y="864108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78668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06973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35279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63584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091890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620195" y="86410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4085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82391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10696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39002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67307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95613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23918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2224" y="1248156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80529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08835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37140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65446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93751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22057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50362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78668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06973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35279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63584" y="1248156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091890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620195" y="124815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5780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54085" y="1632204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582391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10696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9002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67307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95613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23918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2224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80529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808835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37140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65446" y="1632204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93751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22057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450362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78668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506973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035279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563584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091890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620195" y="163220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25780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54085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582391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110696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639002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67307" y="2016252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95613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223918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52224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80529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08835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37140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865446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393751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922057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450362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978668" y="2016252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506973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035279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563584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091890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620195" y="2016252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25780" y="240030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54085" y="240030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1620195" y="2400300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25780" y="278434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54085" y="278434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1620195" y="2784348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25780" y="316839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54085" y="316839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1620195" y="3168396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5780" y="355244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54085" y="3552444"/>
            <a:ext cx="45720" cy="45720"/>
          </a:xfrm>
          <a:prstGeom prst="ellipse">
            <a:avLst/>
          </a:prstGeom>
          <a:solidFill>
            <a:srgbClr val="F5EFE0">
              <a:alpha val="15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620195" y="3552444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77240" y="777240"/>
            <a:ext cx="868680" cy="86868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77240" y="777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060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zk</a:t>
            </a:r>
            <a:endParaRPr lang="en-US" sz="3400" dirty="0"/>
          </a:p>
        </p:txBody>
      </p:sp>
      <p:sp>
        <p:nvSpPr>
          <p:cNvPr id="136" name="Text 134"/>
          <p:cNvSpPr/>
          <p:nvPr/>
        </p:nvSpPr>
        <p:spPr>
          <a:xfrm>
            <a:off x="1783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 TOPICS IN HARDWARE DESIGN · PROJECT PRESENTATION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1783080" y="1325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2026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spc="-300" kern="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zkPHIRE</a:t>
            </a:r>
            <a:endParaRPr lang="en-US" sz="13000" dirty="0"/>
          </a:p>
        </p:txBody>
      </p:sp>
      <p:sp>
        <p:nvSpPr>
          <p:cNvPr id="139" name="Shape 137"/>
          <p:cNvSpPr/>
          <p:nvPr/>
        </p:nvSpPr>
        <p:spPr>
          <a:xfrm>
            <a:off x="777240" y="4297680"/>
            <a:ext cx="1645920" cy="0"/>
          </a:xfrm>
          <a:prstGeom prst="line">
            <a:avLst/>
          </a:prstGeom>
          <a:noFill/>
          <a:ln w="25400">
            <a:solidFill>
              <a:srgbClr val="E6B45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31520" y="4434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programmable FPGA accelerator for the SumCheck bottleneck in zero-knowledge proofs.</a:t>
            </a:r>
            <a:endParaRPr lang="en-US" sz="2100" dirty="0"/>
          </a:p>
        </p:txBody>
      </p:sp>
      <p:sp>
        <p:nvSpPr>
          <p:cNvPr id="141" name="Shape 139"/>
          <p:cNvSpPr/>
          <p:nvPr/>
        </p:nvSpPr>
        <p:spPr>
          <a:xfrm>
            <a:off x="777240" y="5897880"/>
            <a:ext cx="1412748" cy="384048"/>
          </a:xfrm>
          <a:prstGeom prst="rect">
            <a:avLst/>
          </a:prstGeom>
          <a:solidFill>
            <a:srgbClr val="131C3A"/>
          </a:solidFill>
          <a:ln w="9525">
            <a:solidFill>
              <a:srgbClr val="E6B45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77240" y="5897880"/>
            <a:ext cx="1412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Sammy Suliman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2372868" y="5897880"/>
            <a:ext cx="1508760" cy="384048"/>
          </a:xfrm>
          <a:prstGeom prst="rect">
            <a:avLst/>
          </a:prstGeom>
          <a:solidFill>
            <a:srgbClr val="131C3A"/>
          </a:solidFill>
          <a:ln w="9525">
            <a:solidFill>
              <a:srgbClr val="E6B45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372868" y="5897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Jui-Teng Huang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4064508" y="5897880"/>
            <a:ext cx="1220724" cy="384048"/>
          </a:xfrm>
          <a:prstGeom prst="rect">
            <a:avLst/>
          </a:prstGeom>
          <a:solidFill>
            <a:srgbClr val="131C3A"/>
          </a:solidFill>
          <a:ln w="9525">
            <a:solidFill>
              <a:srgbClr val="E6B45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064508" y="5897880"/>
            <a:ext cx="12207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Ashesh Kaji</a:t>
            </a:r>
            <a:endParaRPr lang="en-US" sz="1200" dirty="0"/>
          </a:p>
        </p:txBody>
      </p:sp>
      <p:sp>
        <p:nvSpPr>
          <p:cNvPr id="147" name="Text 145"/>
          <p:cNvSpPr/>
          <p:nvPr/>
        </p:nvSpPr>
        <p:spPr>
          <a:xfrm>
            <a:off x="7619695" y="5989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BN254 · HLS · PYNQ-Z2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ZERO-KNOWLEDGE PROOFS, IN ONE SENTENCE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claim. Hide the witness.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914400" y="2468880"/>
            <a:ext cx="2103120" cy="2103120"/>
          </a:xfrm>
          <a:prstGeom prst="ellipse">
            <a:avLst/>
          </a:prstGeom>
          <a:solidFill>
            <a:srgbClr val="131C3A"/>
          </a:solidFill>
          <a:ln w="19050">
            <a:solidFill>
              <a:srgbClr val="E6B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knows witness 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0" y="2468880"/>
            <a:ext cx="2103120" cy="2103120"/>
          </a:xfrm>
          <a:prstGeom prst="ellipse">
            <a:avLst/>
          </a:prstGeom>
          <a:solidFill>
            <a:srgbClr val="131C3A"/>
          </a:solidFill>
          <a:ln w="19050">
            <a:solidFill>
              <a:srgbClr val="6FBF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sees only proof 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0" y="2834640"/>
            <a:ext cx="5943600" cy="0"/>
          </a:xfrm>
          <a:prstGeom prst="line">
            <a:avLst/>
          </a:prstGeom>
          <a:noFill/>
          <a:ln w="22225">
            <a:solidFill>
              <a:srgbClr val="E6B45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108960" y="2542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B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commitment, 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52560" y="3520440"/>
            <a:ext cx="-5943600" cy="0"/>
          </a:xfrm>
          <a:prstGeom prst="line">
            <a:avLst/>
          </a:prstGeom>
          <a:noFill/>
          <a:ln w="22225">
            <a:solidFill>
              <a:srgbClr val="6FBFB1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108960" y="3246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B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challenge 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08960" y="4206240"/>
            <a:ext cx="5943600" cy="0"/>
          </a:xfrm>
          <a:prstGeom prst="line">
            <a:avLst/>
          </a:prstGeom>
          <a:noFill/>
          <a:ln w="22225">
            <a:solidFill>
              <a:srgbClr val="E6B45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08960" y="3931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B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witness w never crosses the line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166360"/>
            <a:ext cx="3520440" cy="123444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166360"/>
            <a:ext cx="54864" cy="1234440"/>
          </a:xfrm>
          <a:prstGeom prst="rect">
            <a:avLst/>
          </a:prstGeom>
          <a:solidFill>
            <a:srgbClr val="6FBFB1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330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56967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claim → accepted by the verifier.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34840" y="5166360"/>
            <a:ext cx="3520440" cy="123444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5166360"/>
            <a:ext cx="54864" cy="123444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5330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63440" y="56967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claim → rejected by the verifier.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38160" y="5166360"/>
            <a:ext cx="3520440" cy="123444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5166360"/>
            <a:ext cx="54864" cy="1234440"/>
          </a:xfrm>
          <a:prstGeom prst="rect">
            <a:avLst/>
          </a:prstGeom>
          <a:solidFill>
            <a:srgbClr val="D27A5C"/>
          </a:solidFill>
          <a:ln w="12700">
            <a:solidFill>
              <a:srgbClr val="D27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5330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knowledge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66760" y="56967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leaks nothing about witness w.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COMPUTATION BECOMES ALGEBRA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Circuits become polynomial identities.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9728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 GATE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3017520"/>
            <a:ext cx="640080" cy="0"/>
          </a:xfrm>
          <a:prstGeom prst="line">
            <a:avLst/>
          </a:prstGeom>
          <a:noFill/>
          <a:ln w="19050">
            <a:solidFill>
              <a:srgbClr val="F5EF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3566160"/>
            <a:ext cx="640080" cy="0"/>
          </a:xfrm>
          <a:prstGeom prst="line">
            <a:avLst/>
          </a:prstGeom>
          <a:noFill/>
          <a:ln w="19050">
            <a:solidFill>
              <a:srgbClr val="F5EF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737360" y="2834640"/>
            <a:ext cx="868680" cy="914400"/>
          </a:xfrm>
          <a:prstGeom prst="ellipse">
            <a:avLst/>
          </a:prstGeom>
          <a:solidFill>
            <a:srgbClr val="1A2447"/>
          </a:solidFill>
          <a:ln w="15875">
            <a:solidFill>
              <a:srgbClr val="E6B4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283464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6B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2606040" y="3291840"/>
            <a:ext cx="685800" cy="0"/>
          </a:xfrm>
          <a:prstGeom prst="line">
            <a:avLst/>
          </a:prstGeom>
          <a:noFill/>
          <a:ln w="19050">
            <a:solidFill>
              <a:srgbClr val="F5EF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w₃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23360" y="3291840"/>
            <a:ext cx="1280160" cy="0"/>
          </a:xfrm>
          <a:prstGeom prst="line">
            <a:avLst/>
          </a:prstGeom>
          <a:noFill/>
          <a:ln w="22225">
            <a:solidFill>
              <a:srgbClr val="E6B45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2336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POLYNOMIAL CONSTRAINT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2743200"/>
            <a:ext cx="5029200" cy="146304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qL·w₁ + qR·w₂ + qM·w₁w₂ − qO·w₃ + qC = 0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40080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selectors q encode the gate type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5029200"/>
            <a:ext cx="5349240" cy="128016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5029200"/>
            <a:ext cx="54864" cy="128016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1937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→ a constraint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" y="555955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becomes an algebraic equation that evaluates to zero on valid inputs.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5029200"/>
            <a:ext cx="5349240" cy="128016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5029200"/>
            <a:ext cx="54864" cy="1280160"/>
          </a:xfrm>
          <a:prstGeom prst="rect">
            <a:avLst/>
          </a:prstGeom>
          <a:solidFill>
            <a:srgbClr val="6FBFB1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51937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checks polynomials, not traces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0" y="555955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checks randomized polynomial claims rather than executing the full circuit.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PROTOCOL KERNEL WE ACCELERATE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SumCheck shrinks a sum over 2ᵘ points into μ small checks.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89304" y="2743200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912" y="2743200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4520" y="2743200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67128" y="2743200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9304" y="3035808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912" y="3035808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74520" y="3035808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67128" y="3035808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s₁(X₁)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971800" y="3063240"/>
            <a:ext cx="228600" cy="0"/>
          </a:xfrm>
          <a:prstGeom prst="line">
            <a:avLst/>
          </a:prstGeom>
          <a:noFill/>
          <a:ln w="19050">
            <a:solidFill>
              <a:srgbClr val="6FBFB1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92608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FB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r1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4612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12464" y="2743200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05072" y="2743200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2743200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90288" y="2743200"/>
            <a:ext cx="274320" cy="274320"/>
          </a:xfrm>
          <a:prstGeom prst="rect">
            <a:avLst/>
          </a:prstGeom>
          <a:solidFill>
            <a:srgbClr val="E6B450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s₂(X₂)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394960" y="3063240"/>
            <a:ext cx="228600" cy="0"/>
          </a:xfrm>
          <a:prstGeom prst="line">
            <a:avLst/>
          </a:prstGeom>
          <a:noFill/>
          <a:ln w="19050">
            <a:solidFill>
              <a:srgbClr val="6FBFB1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34924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FB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r2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99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28232" y="2743200"/>
            <a:ext cx="274320" cy="274320"/>
          </a:xfrm>
          <a:prstGeom prst="rect">
            <a:avLst/>
          </a:prstGeom>
          <a:solidFill>
            <a:srgbClr val="C9952F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2743200"/>
            <a:ext cx="274320" cy="274320"/>
          </a:xfrm>
          <a:prstGeom prst="rect">
            <a:avLst/>
          </a:prstGeom>
          <a:solidFill>
            <a:srgbClr val="C9952F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s₃(X₃)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818120" y="3063240"/>
            <a:ext cx="228600" cy="0"/>
          </a:xfrm>
          <a:prstGeom prst="line">
            <a:avLst/>
          </a:prstGeom>
          <a:noFill/>
          <a:ln w="19050">
            <a:solidFill>
              <a:srgbClr val="6FBFB1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77240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FB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r3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924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2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924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997696" y="2743200"/>
            <a:ext cx="274320" cy="274320"/>
          </a:xfrm>
          <a:prstGeom prst="rect">
            <a:avLst/>
          </a:prstGeom>
          <a:solidFill>
            <a:srgbClr val="D27A5C">
              <a:alpha val="65000"/>
            </a:srgbClr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9244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f(r₁,r₂,r₃)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0104120" y="2743200"/>
            <a:ext cx="1828800" cy="1143000"/>
          </a:xfrm>
          <a:prstGeom prst="rect">
            <a:avLst/>
          </a:prstGeom>
          <a:solidFill>
            <a:srgbClr val="131C3A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0412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B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verifier check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10412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sᵢ(0)+sᵢ(1) = sᵢ₋₁(rᵢ₋₁)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round halves the table — μ rounds total, one variable fixed per round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371600" y="5486400"/>
            <a:ext cx="9418320" cy="82296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0" y="54864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claimed total:   C = Σ_{x₁,…,xᵤ ∈ {0,1}}  f(x₁, …, xᵤ)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BELONGS IN A HARDWARE DESIGN CLASS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generation is the bottleneck.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315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788920"/>
            <a:ext cx="9601200" cy="411480"/>
          </a:xfrm>
          <a:prstGeom prst="rect">
            <a:avLst/>
          </a:prstGeom>
          <a:solidFill>
            <a:srgbClr val="E6B450">
              <a:alpha val="85000"/>
            </a:srgbClr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6B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minutes — hours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B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/ ASIC TARGET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703320"/>
            <a:ext cx="777240" cy="411480"/>
          </a:xfrm>
          <a:prstGeom prst="rect">
            <a:avLst/>
          </a:prstGeom>
          <a:solidFill>
            <a:srgbClr val="6FBFB1">
              <a:alpha val="85000"/>
            </a:srgbClr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3703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B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 of magnitude faster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663440"/>
            <a:ext cx="3566160" cy="169164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892040"/>
            <a:ext cx="33832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6B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14400" y="5712257"/>
            <a:ext cx="320040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field elements — wide modular multiplies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4663440"/>
            <a:ext cx="3566160" cy="169164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892040"/>
            <a:ext cx="33832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6FB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+ 1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617720" y="5712257"/>
            <a:ext cx="320040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samples per degree-d round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4663440"/>
            <a:ext cx="3566160" cy="169164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892040"/>
            <a:ext cx="33832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2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2ᵘ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8321040" y="5712257"/>
            <a:ext cx="320040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 table size — heavy memory pressure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PAPER: ZKPHIRE — A PROGRAMMABLE ACCELERATOR FOR ZKPS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paper's idea: programmable SumCheck for high-degree gates.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Instead of a fixed SumCheck datapath for one gate type, zkPHIRE supports arbitrary high-degree, expressive gate polynomials.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3657600" cy="14173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49040"/>
            <a:ext cx="54864" cy="141732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913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2793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different polynomial terms, degrees, and reuse patterns.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749040"/>
            <a:ext cx="3657600" cy="14173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3749040"/>
            <a:ext cx="54864" cy="1417320"/>
          </a:xfrm>
          <a:prstGeom prst="rect">
            <a:avLst/>
          </a:prstGeom>
          <a:solidFill>
            <a:srgbClr val="6FBFB1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913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427939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scratchpads reuse MLE table data across terms.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21040" y="3749040"/>
            <a:ext cx="3337560" cy="14173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3749040"/>
            <a:ext cx="54864" cy="1417320"/>
          </a:xfrm>
          <a:prstGeom prst="rect">
            <a:avLst/>
          </a:prstGeom>
          <a:solidFill>
            <a:srgbClr val="D27A5C"/>
          </a:solidFill>
          <a:ln w="12700">
            <a:solidFill>
              <a:srgbClr val="D27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39136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49640" y="42793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SumCheck into a HyperPlonk accelerator with MSM, SHA3, modular inverse, and forest units.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HPCA PAPER REPORTS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speedups, small proofs, and custom gate support.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3566160" cy="237744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54680"/>
            <a:ext cx="3383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6B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1000×+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14400" y="4400093"/>
            <a:ext cx="3200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Geomean speedup over CPU-based SumChecks across gate types.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2926080"/>
            <a:ext cx="3566160" cy="237744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154680"/>
            <a:ext cx="3383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6FB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1486×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617720" y="4400093"/>
            <a:ext cx="3200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Geomean full-system speedup over CPU for HyperPlonk.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2926080"/>
            <a:ext cx="3566160" cy="237744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154680"/>
            <a:ext cx="3383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2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4–5 KB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321040" y="4400093"/>
            <a:ext cx="3200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sizes remain succinct while scaling to large problems.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from the paper abstract in docs/paper/zkphire.pdf.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IMPLEMENTATION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SumCheck round as a reusable HLS IP block.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63728" y="2697480"/>
            <a:ext cx="2103120" cy="1371600"/>
          </a:xfrm>
          <a:prstGeom prst="rect">
            <a:avLst/>
          </a:prstGeom>
          <a:solidFill>
            <a:srgbClr val="1A2447"/>
          </a:solidFill>
          <a:ln w="15875">
            <a:solidFill>
              <a:srgbClr val="E6B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728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9448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f[2k], f[2k+1]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9448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MLE pairs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75992" y="3383280"/>
            <a:ext cx="118872" cy="0"/>
          </a:xfrm>
          <a:prstGeom prst="line">
            <a:avLst/>
          </a:prstGeom>
          <a:noFill/>
          <a:ln w="19050">
            <a:solidFill>
              <a:srgbClr val="E6B45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04008" y="2697480"/>
            <a:ext cx="2103120" cy="13716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4008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49728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L(z), z = 0…d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49728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d+1 sample points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16272" y="3383280"/>
            <a:ext cx="118872" cy="0"/>
          </a:xfrm>
          <a:prstGeom prst="line">
            <a:avLst/>
          </a:prstGeom>
          <a:noFill/>
          <a:ln w="19050">
            <a:solidFill>
              <a:srgbClr val="E6B45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44288" y="2697480"/>
            <a:ext cx="2103120" cy="13716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4288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90008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 Lᵢ(z)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90008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factors per term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56552" y="3383280"/>
            <a:ext cx="118872" cy="0"/>
          </a:xfrm>
          <a:prstGeom prst="line">
            <a:avLst/>
          </a:prstGeom>
          <a:noFill/>
          <a:ln w="19050">
            <a:solidFill>
              <a:srgbClr val="E6B45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84568" y="2697480"/>
            <a:ext cx="2103120" cy="13716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84568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30288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s(z) = Σ Pₖ(z)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30288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polynomial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96832" y="3383280"/>
            <a:ext cx="118872" cy="0"/>
          </a:xfrm>
          <a:prstGeom prst="line">
            <a:avLst/>
          </a:prstGeom>
          <a:noFill/>
          <a:ln w="19050">
            <a:solidFill>
              <a:srgbClr val="E6B45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24848" y="2697480"/>
            <a:ext cx="2103120" cy="1371600"/>
          </a:xfrm>
          <a:prstGeom prst="rect">
            <a:avLst/>
          </a:prstGeom>
          <a:solidFill>
            <a:srgbClr val="1A2447"/>
          </a:solidFill>
          <a:ln w="15875">
            <a:solidFill>
              <a:srgbClr val="E6B4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24848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570568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f′[k] = L(r)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570568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halve the table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4343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B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verifier challenge r feeds the next round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0" y="4663440"/>
            <a:ext cx="-4572000" cy="0"/>
          </a:xfrm>
          <a:prstGeom prst="line">
            <a:avLst/>
          </a:prstGeom>
          <a:noFill/>
          <a:ln w="12700">
            <a:solidFill>
              <a:srgbClr val="6FBFB1"/>
            </a:solidFill>
            <a:prstDash val="dash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1520" y="5166360"/>
            <a:ext cx="5349240" cy="128016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" y="5166360"/>
            <a:ext cx="54864" cy="128016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0120" y="5330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in HLS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60120" y="569671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a single round, parameterizable across degree d.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55080" y="5166360"/>
            <a:ext cx="5349240" cy="128016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5166360"/>
            <a:ext cx="54864" cy="1280160"/>
          </a:xfrm>
          <a:prstGeom prst="rect">
            <a:avLst/>
          </a:prstGeom>
          <a:solidFill>
            <a:srgbClr val="6FBFB1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5330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as IP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583680" y="569671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control interface and golden-model verified for drop-in use.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DESIGN CHOICE 1: VALIDATION-FIRST DEVELOPMENT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golden model is the specification.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31520" y="22402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optimizing hardware structure, we locked down one-round behavior in a bit-exact Python reference model and made every HLS target prove that it matches.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3611880" cy="18288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83280"/>
            <a:ext cx="54864" cy="182880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547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semantics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91363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golden_sumcheck.py defines BN254 field arithmetic, round polynomial samples, challenge-based table updates, and protocol-chain invariants.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3383280"/>
            <a:ext cx="3611880" cy="18288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383280"/>
            <a:ext cx="54864" cy="1828800"/>
          </a:xfrm>
          <a:prstGeom prst="rect">
            <a:avLst/>
          </a:prstGeom>
          <a:solidFill>
            <a:srgbClr val="6FBFB1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547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regression cases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913632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Hand-checkable deterministic examples plus randomized degree-2 through degree-6 checks catch both math and indexing mistakes.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3383280"/>
            <a:ext cx="3429000" cy="18288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383280"/>
            <a:ext cx="54864" cy="1828800"/>
          </a:xfrm>
          <a:prstGeom prst="rect">
            <a:avLst/>
          </a:prstGeom>
          <a:solidFill>
            <a:srgbClr val="D27A5C"/>
          </a:solidFill>
          <a:ln w="12700">
            <a:solidFill>
              <a:srgbClr val="D27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3547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acceptance test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391363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C-simulation is not considered passing unless every samples[x] value and every updated[m][k] entry matches the golden output.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440680"/>
            <a:ext cx="10927080" cy="914400"/>
          </a:xfrm>
          <a:prstGeom prst="rect">
            <a:avLst/>
          </a:prstGeom>
          <a:solidFill>
            <a:srgbClr val="1A2447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440680"/>
            <a:ext cx="10927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HLS is correct  ⟺  ∀ x, m, k :  samples_hls[x] = samples_gold[x]  ∧  updated_hls[m,k] = updated_gold[m,k]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DESIGN CHOICE 2: IP INTERFACE CONTRACT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stays scalar; field tables move through memory.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SumCheck round has tiny configuration state but large 256-bit table buffers, so the interface separates AXI-Lite control from bulk memory movement.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246120"/>
            <a:ext cx="5349240" cy="306324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246120"/>
            <a:ext cx="54864" cy="306324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AXI-Lite for control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3840480"/>
          <a:ext cx="493776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365760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FBFB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Field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FBF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scalar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B4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degree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number of MLE factors and d+1 samples.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B4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power-of-two table length.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B4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Verifier challenge for next-table update.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B4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E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code for bad degree, size, or challenge.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A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400800" y="3246120"/>
            <a:ext cx="5349240" cy="9144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0" y="3246120"/>
            <a:ext cx="54864" cy="914400"/>
          </a:xfrm>
          <a:prstGeom prst="rect">
            <a:avLst/>
          </a:prstGeom>
          <a:solidFill>
            <a:srgbClr val="6FBFB1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34107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 array top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629400" y="37764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sumcheck_round_array — structured C-sim interface: tables[m][i], samples[x], updated[m][k].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4297680"/>
            <a:ext cx="5349240" cy="9144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4297680"/>
            <a:ext cx="54864" cy="91440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9400" y="44622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m_axi DMA top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629400" y="48280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sumcheck_round_axi — flattens buffers for host: inputs at m*size+i, outputs at x and m*(size/2)+k.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00800" y="5349240"/>
            <a:ext cx="5349240" cy="9601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5349240"/>
            <a:ext cx="54864" cy="960120"/>
          </a:xfrm>
          <a:prstGeom prst="rect">
            <a:avLst/>
          </a:prstGeom>
          <a:solidFill>
            <a:srgbClr val="D27A5C"/>
          </a:solidFill>
          <a:ln w="12700">
            <a:solidFill>
              <a:srgbClr val="D27A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55138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choice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629400" y="587959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how a host launches reusable IP: configure once, stream/DMA buffers, then poll status.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DESIGN CHOICE 3: SELF-CHECKING TESTBENCHES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Testbenches check behavior, not just completion.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HLS testbench is intentionally deterministic and element-wise, so failures point to the exact sample or updated-table entry that diverged from the golden model.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3611880" cy="13716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83280"/>
            <a:ext cx="54864" cy="137160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547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Hand-checkable cases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91363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uses x₁x₂x₃ with challenge chain (5,7,11), including edge checks for r=0 and r=1.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3383280"/>
            <a:ext cx="3611880" cy="13716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383280"/>
            <a:ext cx="54864" cy="1371600"/>
          </a:xfrm>
          <a:prstGeom prst="rect">
            <a:avLst/>
          </a:prstGeom>
          <a:solidFill>
            <a:srgbClr val="6FBFB1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547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coverage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91363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tests x₁x₂ and x₂x₃ individually, then the combined polynomial x₁x₂ + x₂x₃.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3383280"/>
            <a:ext cx="3429000" cy="13716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383280"/>
            <a:ext cx="54864" cy="1371600"/>
          </a:xfrm>
          <a:prstGeom prst="rect">
            <a:avLst/>
          </a:prstGeom>
          <a:solidFill>
            <a:srgbClr val="D27A5C"/>
          </a:solidFill>
          <a:ln w="12700">
            <a:solidFill>
              <a:srgbClr val="D27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35478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assertions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39136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compares every sample and every next-table cell; a passing run = full IP contract matched.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983480"/>
            <a:ext cx="2697480" cy="1371600"/>
          </a:xfrm>
          <a:prstGeom prst="rect">
            <a:avLst/>
          </a:prstGeom>
          <a:solidFill>
            <a:srgbClr val="131C3A"/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983480"/>
            <a:ext cx="2697480" cy="54864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120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LOAD VECTOR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5440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256-bit MLE tables with deterministic fixtures.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93008" y="4983480"/>
            <a:ext cx="2697480" cy="1371600"/>
          </a:xfrm>
          <a:prstGeom prst="rect">
            <a:avLst/>
          </a:prstGeom>
          <a:solidFill>
            <a:srgbClr val="131C3A"/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93008" y="4983480"/>
            <a:ext cx="2697480" cy="54864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0168" y="5120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RUN IP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30168" y="5440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same top-level function used for synthesis.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54496" y="4983480"/>
            <a:ext cx="2697480" cy="1371600"/>
          </a:xfrm>
          <a:prstGeom prst="rect">
            <a:avLst/>
          </a:prstGeom>
          <a:solidFill>
            <a:srgbClr val="131C3A"/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54496" y="4983480"/>
            <a:ext cx="2697480" cy="54864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5120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COMPARE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91656" y="5440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samples and updated against golden values.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15984" y="4983480"/>
            <a:ext cx="2697480" cy="1371600"/>
          </a:xfrm>
          <a:prstGeom prst="rect">
            <a:avLst/>
          </a:prstGeom>
          <a:solidFill>
            <a:srgbClr val="131C3A"/>
          </a:solidFill>
          <a:ln w="6350">
            <a:solidFill>
              <a:srgbClr val="2A37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15984" y="4983480"/>
            <a:ext cx="2697480" cy="54864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53144" y="5120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REPORT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53144" y="54406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named PASS/FAIL; current suite: 7/7 on both targets.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DESIGN CHOICE 4: DIVIDE THE PAPER INTO HLS MODULES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translated the SumCheck datapath into small, testable header files.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22960" y="2468880"/>
            <a:ext cx="2286000" cy="868680"/>
          </a:xfrm>
          <a:prstGeom prst="rect">
            <a:avLst/>
          </a:prstGeom>
          <a:solidFill>
            <a:srgbClr val="131C3A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types.hpp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type, P, limits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468880"/>
            <a:ext cx="2286000" cy="868680"/>
          </a:xfrm>
          <a:prstGeom prst="rect">
            <a:avLst/>
          </a:prstGeom>
          <a:solidFill>
            <a:srgbClr val="131C3A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field_arithmetic.hpp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BN254 add / sub / mul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2468880"/>
            <a:ext cx="2286000" cy="868680"/>
          </a:xfrm>
          <a:prstGeom prst="rect">
            <a:avLst/>
          </a:prstGeom>
          <a:solidFill>
            <a:srgbClr val="131C3A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scratchpad.hpp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525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table storage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703320"/>
            <a:ext cx="2606040" cy="868680"/>
          </a:xfrm>
          <a:prstGeom prst="rect">
            <a:avLst/>
          </a:prstGeom>
          <a:solidFill>
            <a:srgbClr val="1A2447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B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extension_engine.hpp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→ L(z)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47288" y="3703320"/>
            <a:ext cx="2606040" cy="868680"/>
          </a:xfrm>
          <a:prstGeom prst="rect">
            <a:avLst/>
          </a:prstGeom>
          <a:solidFill>
            <a:srgbClr val="1A2447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B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product_lane.hpp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47288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multiply factors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63056" y="3703320"/>
            <a:ext cx="2606040" cy="868680"/>
          </a:xfrm>
          <a:prstGeom prst="rect">
            <a:avLst/>
          </a:prstGeom>
          <a:solidFill>
            <a:srgbClr val="1A2447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B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accumulator.hpp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63056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 into s(z)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78824" y="3703320"/>
            <a:ext cx="2606040" cy="868680"/>
          </a:xfrm>
          <a:prstGeom prst="rect">
            <a:avLst/>
          </a:prstGeom>
          <a:solidFill>
            <a:srgbClr val="1A2447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78824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B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update_unit.hpp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78824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challenge 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4937760"/>
            <a:ext cx="5760720" cy="868680"/>
          </a:xfrm>
          <a:prstGeom prst="rect">
            <a:avLst/>
          </a:prstGeom>
          <a:solidFill>
            <a:srgbClr val="D27A5C">
              <a:alpha val="20000"/>
            </a:srgbClr>
          </a:solidFill>
          <a:ln w="15875">
            <a:solidFill>
              <a:srgbClr val="D27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5029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7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src/sumcheck_top.cpp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00400" y="5394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orchestrates BRAM + m_axi top functions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80760" y="3337560"/>
            <a:ext cx="0" cy="365760"/>
          </a:xfrm>
          <a:prstGeom prst="line">
            <a:avLst/>
          </a:prstGeom>
          <a:noFill/>
          <a:ln w="9525">
            <a:solidFill>
              <a:srgbClr val="2A37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0760" y="4572000"/>
            <a:ext cx="0" cy="365760"/>
          </a:xfrm>
          <a:prstGeom prst="line">
            <a:avLst/>
          </a:prstGeom>
          <a:noFill/>
          <a:ln w="9525">
            <a:solidFill>
              <a:srgbClr val="2A37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datapath stage = a named HLS unit  ·  small headers isolate bugs  ·  top file composes BRAM + m_axi interfaces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DESIGN CHOICE 5: PROMPT ONE MODULE AT A 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used careful AI prompting as a hardware-specification tool.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5029200" cy="11887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606040"/>
            <a:ext cx="54864" cy="118872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770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prompts worked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1363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gave the AI a role, the mathematical contract, Vitis HLS constraints, resource notes, and the exact functions to implement.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5029200" cy="11887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931920"/>
            <a:ext cx="54864" cy="1188720"/>
          </a:xfrm>
          <a:prstGeom prst="rect">
            <a:avLst/>
          </a:prstGeom>
          <a:solidFill>
            <a:srgbClr val="6FBFB1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096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4622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header at a time, stable interfaces via types.hpp, every output validated against the golden model and C-sim testbench.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257800"/>
            <a:ext cx="5029200" cy="11887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257800"/>
            <a:ext cx="54864" cy="1188720"/>
          </a:xfrm>
          <a:prstGeom prst="rect">
            <a:avLst/>
          </a:prstGeom>
          <a:solidFill>
            <a:srgbClr val="D27A5C"/>
          </a:solidFill>
          <a:ln w="12700">
            <a:solidFill>
              <a:srgbClr val="D27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422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shown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57881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prompt targets field_arithmetic.hpp, which depends on types.hpp for the BN254 type and field prime.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606040"/>
            <a:ext cx="5669280" cy="3794760"/>
          </a:xfrm>
          <a:prstGeom prst="rect">
            <a:avLst/>
          </a:prstGeom>
          <a:solidFill>
            <a:srgbClr val="060B1C"/>
          </a:solidFill>
          <a:ln w="9525">
            <a:solidFill>
              <a:srgbClr val="E6B4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697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— field_arithmetic.hpp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01752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Expert FPGA design engineer specializing in Vitis HLS and Cryptographic Hardware.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 Write field_arithmetic.hpp implementing modular arithmetic for the BN254 scalar field.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Mathematical Context: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BN254 scalar prime P =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21888242871839275222246405745257275088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548364400416034343698204186575808495617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Requirements: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Include types.hpp.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bn254_add(a,b): (a+b) mod P — add + conditional subtract of P (save DSPs).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bn254_sub(a,b): (a-b) mod P — add P on underflow.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bn254_mul(a,b): (a·b) mod P — Phase 1: (ap_uint&lt;512&gt;(a)*b) % P. Montgomery in Phase 3.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Mark all functions inline for hardware pipelining.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 BRING-UP ISSUE: PYNQ-Z2 DSP BUDGET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Functionally correct, but too DSP-heavy for the board.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PYNQ-Z2 C-simulation passed and timing met 100 MHz, but the board only has 220 DSPs. Direct 256-bit BN254 modular multiplication pushed implementation over that limit.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3611880" cy="14173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11880"/>
            <a:ext cx="3429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6FB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14400" y="4262018"/>
            <a:ext cx="32461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DSPs available on PYNQ-Z2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383280"/>
            <a:ext cx="3611880" cy="14173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611880"/>
            <a:ext cx="3429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6B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233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663440" y="4262018"/>
            <a:ext cx="32461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DSPs after shared-multiplier optimization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3383280"/>
            <a:ext cx="3429000" cy="14173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611880"/>
            <a:ext cx="32461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2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105%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8412480" y="4262018"/>
            <a:ext cx="30632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utilization — cannot comfortably fit on-board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5029200"/>
            <a:ext cx="5440680" cy="13716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029200"/>
            <a:ext cx="54864" cy="137160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19379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caused the issue?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5559552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1 multiplier used ap_uint&lt;512&gt;(a) * b % FIELD_P — simple and bit-exact, but expensive on a small Zynq-7020.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5029200"/>
            <a:ext cx="5394960" cy="137160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5029200"/>
            <a:ext cx="54864" cy="1371600"/>
          </a:xfrm>
          <a:prstGeom prst="rect">
            <a:avLst/>
          </a:prstGeom>
          <a:solidFill>
            <a:srgbClr val="6FBFB1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5193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tried / learned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55595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mod_mul cut DSPs from 458 → 233 (48% reduction). Barrett made DSPs worse (683). BIND_OP impl=fabric unsupported on xc7z020.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E6B450">
              <a:alpha val="8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7315200" cy="7315200"/>
          </a:xfrm>
          <a:prstGeom prst="ellipse">
            <a:avLst/>
          </a:prstGeom>
          <a:solidFill>
            <a:srgbClr val="6FBFB1">
              <a:alpha val="6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45775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zkPHIRE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777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CONCLUSION: WHAT THE PYNQ ISSUE TAUGHT 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Montgomery multiplication is the right fix for small FPGA deployment.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PYNQ-Z2 failure was not a SumCheck correctness problem. It was an arithmetic architecture problem: generic modular division for BN254 consumed too many DSPs.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5440680" cy="128016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291840"/>
            <a:ext cx="54864" cy="128016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4564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Montgomery changes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82219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Operands live in the Montgomery domain. Multiplication = a 512-bit product, a reduction factor from the low 256 bits, a shift, and one conditional subtraction.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291840"/>
            <a:ext cx="5394960" cy="128016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3291840"/>
            <a:ext cx="54864" cy="1280160"/>
          </a:xfrm>
          <a:prstGeom prst="rect">
            <a:avLst/>
          </a:prstGeom>
          <a:solidFill>
            <a:srgbClr val="6FBFB1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4564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 PYNQ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8221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DSP-heavy % reduction with precomputed constants: R = 2^256, R² mod p, and p′ = −p⁻¹ mod 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937760"/>
            <a:ext cx="3611880" cy="14173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166360"/>
            <a:ext cx="3429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6FB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914400" y="5816498"/>
            <a:ext cx="32461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DSPs after Montgomery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4937760"/>
            <a:ext cx="3611880" cy="14173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5166360"/>
            <a:ext cx="34290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6B4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&lt;100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4663440" y="5816498"/>
            <a:ext cx="32461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target for fitting PYNQ-Z2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4937760"/>
            <a:ext cx="3429000" cy="141732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5166360"/>
            <a:ext cx="32461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2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8412480" y="5816498"/>
            <a:ext cx="30632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operations in Montgomery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E6B450">
              <a:alpha val="10000"/>
            </a:srgbClr>
          </a:solidFill>
          <a:ln w="12700">
            <a:solidFill>
              <a:srgbClr val="E6B4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19695" y="2286000"/>
            <a:ext cx="9144000" cy="9144000"/>
          </a:xfrm>
          <a:prstGeom prst="ellipse">
            <a:avLst/>
          </a:prstGeom>
          <a:solidFill>
            <a:srgbClr val="6FBFB1">
              <a:alpha val="8000"/>
            </a:srgbClr>
          </a:solidFill>
          <a:ln w="12700">
            <a:solidFill>
              <a:srgbClr val="6FBFB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5780" y="388620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4085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2391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10696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39002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67307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95613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3918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2224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80529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8835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7140" y="388620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65446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3751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2057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0362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78668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6973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35279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63584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91890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20195" y="38862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4085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2391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10696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39002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67307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95613" y="772668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23918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2224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80529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08835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7140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65446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93751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22057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0362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78668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06973" y="772668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35279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63584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091890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620195" y="77266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54085" y="1156716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82391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10696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39002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67307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95613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23918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2224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80529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08835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37140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65446" y="1156716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93751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22057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50362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78668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06973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35279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63584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091890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620195" y="115671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5780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54085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582391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10696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9002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67307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695613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23918" y="1540764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2224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80529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808835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37140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65446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93751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22057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450362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78668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506973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035279" y="1540764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563584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091890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620195" y="154076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25780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54085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582391" y="1924812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110696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639002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67307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95613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223918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752224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280529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08835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37140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865446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393751" y="1924812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922057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450362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978668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506973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035279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563584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091890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620195" y="192481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25780" y="230886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54085" y="230886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582391" y="230886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110696" y="230886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035279" y="230886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563584" y="2308860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1091890" y="230886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1620195" y="230886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25780" y="269290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54085" y="269290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582391" y="269290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110696" y="2692908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035279" y="269290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563584" y="269290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091890" y="269290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620195" y="2692908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5780" y="307695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54085" y="307695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582391" y="307695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110696" y="307695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035279" y="307695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563584" y="307695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091890" y="3076956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620195" y="3076956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25780" y="346100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54085" y="346100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582391" y="346100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110696" y="346100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035279" y="346100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563584" y="346100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091890" y="346100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1620195" y="3461004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25780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54085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582391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110696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639002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167307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695613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223918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752224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280529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808835" y="3845052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337140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865446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393751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922057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450362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978668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06973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035279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563584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091890" y="3845052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620195" y="3845052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25780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54085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582391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110696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639002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167307" y="4229100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695613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223918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752224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280529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808835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37140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865446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393751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922057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450362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978668" y="4229100"/>
            <a:ext cx="45720" cy="45720"/>
          </a:xfrm>
          <a:prstGeom prst="ellipse">
            <a:avLst/>
          </a:prstGeom>
          <a:solidFill>
            <a:srgbClr val="E6B450">
              <a:alpha val="70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506973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035279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563584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091890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620195" y="4229100"/>
            <a:ext cx="45720" cy="45720"/>
          </a:xfrm>
          <a:prstGeom prst="ellipse">
            <a:avLst/>
          </a:prstGeom>
          <a:solidFill>
            <a:srgbClr val="F5EFE0">
              <a:alpha val="12000"/>
            </a:srgbClr>
          </a:solidFill>
          <a:ln w="12700">
            <a:solidFill>
              <a:srgbClr val="F5EFE0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11480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11480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1615623" y="41148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1780215" y="411480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11480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11480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1615623" y="6446520"/>
            <a:ext cx="164592" cy="0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1780215" y="6281928"/>
            <a:ext cx="0" cy="164592"/>
          </a:xfrm>
          <a:prstGeom prst="line">
            <a:avLst/>
          </a:prstGeom>
          <a:noFill/>
          <a:ln w="15875">
            <a:solidFill>
              <a:srgbClr val="E6B45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6B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199" name="Text 197"/>
          <p:cNvSpPr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spc="-300" kern="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11000" dirty="0"/>
          </a:p>
        </p:txBody>
      </p:sp>
      <p:sp>
        <p:nvSpPr>
          <p:cNvPr id="200" name="Shape 198"/>
          <p:cNvSpPr/>
          <p:nvPr/>
        </p:nvSpPr>
        <p:spPr>
          <a:xfrm>
            <a:off x="5272888" y="3931920"/>
            <a:ext cx="1645920" cy="0"/>
          </a:xfrm>
          <a:prstGeom prst="line">
            <a:avLst/>
          </a:prstGeom>
          <a:noFill/>
          <a:ln w="25400">
            <a:solidFill>
              <a:srgbClr val="E6B45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zkPHIRE SumCheck Accelerator</a:t>
            </a:r>
            <a:endParaRPr lang="en-US" sz="2000" dirty="0"/>
          </a:p>
        </p:txBody>
      </p:sp>
      <p:sp>
        <p:nvSpPr>
          <p:cNvPr id="202" name="Shape 200"/>
          <p:cNvSpPr/>
          <p:nvPr/>
        </p:nvSpPr>
        <p:spPr>
          <a:xfrm>
            <a:off x="731520" y="4983480"/>
            <a:ext cx="3611880" cy="132588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1520" y="4983480"/>
            <a:ext cx="54864" cy="1325880"/>
          </a:xfrm>
          <a:prstGeom prst="rect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960120" y="5148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00" dirty="0"/>
          </a:p>
        </p:txBody>
      </p:sp>
      <p:sp>
        <p:nvSpPr>
          <p:cNvPr id="205" name="Text 203"/>
          <p:cNvSpPr/>
          <p:nvPr/>
        </p:nvSpPr>
        <p:spPr>
          <a:xfrm>
            <a:off x="960120" y="55138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programmable SumCheck round over BN254.</a:t>
            </a:r>
            <a:endParaRPr lang="en-US" sz="1100" dirty="0"/>
          </a:p>
        </p:txBody>
      </p:sp>
      <p:sp>
        <p:nvSpPr>
          <p:cNvPr id="206" name="Shape 204"/>
          <p:cNvSpPr/>
          <p:nvPr/>
        </p:nvSpPr>
        <p:spPr>
          <a:xfrm>
            <a:off x="4480560" y="4983480"/>
            <a:ext cx="3611880" cy="132588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480560" y="4983480"/>
            <a:ext cx="54864" cy="1325880"/>
          </a:xfrm>
          <a:prstGeom prst="rect">
            <a:avLst/>
          </a:prstGeom>
          <a:solidFill>
            <a:srgbClr val="6FBFB1"/>
          </a:solidFill>
          <a:ln w="12700">
            <a:solidFill>
              <a:srgbClr val="6FBFB1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4709160" y="5148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09" name="Text 207"/>
          <p:cNvSpPr/>
          <p:nvPr/>
        </p:nvSpPr>
        <p:spPr>
          <a:xfrm>
            <a:off x="4709160" y="55138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Vitis HLS design with golden-model validation.</a:t>
            </a:r>
            <a:endParaRPr lang="en-US" sz="1100" dirty="0"/>
          </a:p>
        </p:txBody>
      </p:sp>
      <p:sp>
        <p:nvSpPr>
          <p:cNvPr id="210" name="Shape 208"/>
          <p:cNvSpPr/>
          <p:nvPr/>
        </p:nvSpPr>
        <p:spPr>
          <a:xfrm>
            <a:off x="8229600" y="4983480"/>
            <a:ext cx="3429000" cy="1325880"/>
          </a:xfrm>
          <a:prstGeom prst="rect">
            <a:avLst/>
          </a:prstGeom>
          <a:solidFill>
            <a:srgbClr val="131C3A"/>
          </a:solidFill>
          <a:ln w="9525">
            <a:solidFill>
              <a:srgbClr val="2A3766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229600" y="4983480"/>
            <a:ext cx="54864" cy="1325880"/>
          </a:xfrm>
          <a:prstGeom prst="rect">
            <a:avLst/>
          </a:prstGeom>
          <a:solidFill>
            <a:srgbClr val="D27A5C"/>
          </a:solidFill>
          <a:ln w="12700">
            <a:solidFill>
              <a:srgbClr val="D27A5C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8458200" y="51480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lesson</a:t>
            </a:r>
            <a:endParaRPr lang="en-US" sz="1300" dirty="0"/>
          </a:p>
        </p:txBody>
      </p:sp>
      <p:sp>
        <p:nvSpPr>
          <p:cNvPr id="213" name="Text 211"/>
          <p:cNvSpPr/>
          <p:nvPr/>
        </p:nvSpPr>
        <p:spPr>
          <a:xfrm>
            <a:off x="8458200" y="55138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PYNQ-Z2 deployment is constrained by DSP-heavy field arithmetic.</a:t>
            </a:r>
            <a:endParaRPr lang="en-US" sz="1100" dirty="0"/>
          </a:p>
        </p:txBody>
      </p:sp>
      <p:sp>
        <p:nvSpPr>
          <p:cNvPr id="214" name="Text 212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B8B3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Sammy Suliman · Jui-Teng Huang · Ashesh Kaji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zkPHIRE — SumCheck Accelerator</dc:title>
  <dc:subject>PptxGenJS Presentation</dc:subject>
  <dc:creator>Sammy Suliman, Jui-Teng Huang, Ashesh Kaji</dc:creator>
  <cp:lastModifiedBy>Sammy Suliman, Jui-Teng Huang, Ashesh Kaji</cp:lastModifiedBy>
  <cp:revision>1</cp:revision>
  <dcterms:created xsi:type="dcterms:W3CDTF">2026-05-12T01:19:33Z</dcterms:created>
  <dcterms:modified xsi:type="dcterms:W3CDTF">2026-05-12T01:19:33Z</dcterms:modified>
</cp:coreProperties>
</file>